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8229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MANUFACTURING OPERATIONS AI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Root-Cause Analysis  ·  From Alert to Action in Seconds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875520" y="128016"/>
            <a:ext cx="201168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1280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AGENTS  ·  AGENTIC RAG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941832"/>
            <a:ext cx="11759184" cy="0"/>
          </a:xfrm>
          <a:prstGeom prst="line">
            <a:avLst/>
          </a:prstGeom>
          <a:noFill/>
          <a:ln w="12700">
            <a:solidFill>
              <a:srgbClr val="3E5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024128"/>
            <a:ext cx="2788920" cy="246888"/>
          </a:xfrm>
          <a:prstGeom prst="rect">
            <a:avLst/>
          </a:prstGeom>
          <a:solidFill>
            <a:srgbClr val="111D2C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024128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" y="139903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16736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spikes, throughput drops, supplier delays, equipment failures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0312" y="179222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099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lose hours chasing root causes across siloed systems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0312" y="21854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0312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handoff — critical knowledge walks out each shift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2606040"/>
            <a:ext cx="2788920" cy="246888"/>
          </a:xfrm>
          <a:prstGeom prst="rect">
            <a:avLst/>
          </a:prstGeom>
          <a:solidFill>
            <a:srgbClr val="111D2C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2606040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DOMAIN AGENTS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1168" y="2926080"/>
            <a:ext cx="36576" cy="2011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8895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Agent  </a:t>
            </a:r>
            <a:pPr indent="0" marL="0">
              <a:buNone/>
            </a:pPr>
            <a:r>
              <a:rPr lang="en-US" sz="8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rates, SPC, threshold violations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3227832"/>
            <a:ext cx="36576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1912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Agent  </a:t>
            </a:r>
            <a:pPr indent="0" marL="0">
              <a:buNone/>
            </a:pPr>
            <a:r>
              <a:rPr lang="en-US" sz="8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breakdown, downtime, production loss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3529584"/>
            <a:ext cx="36576" cy="20116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493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Agent  </a:t>
            </a:r>
            <a:pPr indent="0" marL="0">
              <a:buNone/>
            </a:pPr>
            <a:r>
              <a:rPr lang="en-US" sz="8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alerts, overdue PMs, work orders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1168" y="3831336"/>
            <a:ext cx="36576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94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Agent  </a:t>
            </a:r>
            <a:pPr indent="0" marL="0">
              <a:buNone/>
            </a:pPr>
            <a:r>
              <a:rPr lang="en-US" sz="8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delayed POs, supplier risk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" y="4133088"/>
            <a:ext cx="36576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4096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Agent  </a:t>
            </a:r>
            <a:pPr indent="0" marL="0">
              <a:buNone/>
            </a:pPr>
            <a:r>
              <a:rPr lang="en-US" sz="8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status, near-miss patterns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" y="4507992"/>
            <a:ext cx="2788920" cy="246888"/>
          </a:xfrm>
          <a:prstGeom prst="rect">
            <a:avLst/>
          </a:prstGeom>
          <a:solidFill>
            <a:srgbClr val="111D2C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450799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 KNOWLEDGE BASE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1168" y="4782312"/>
            <a:ext cx="2788920" cy="566928"/>
          </a:xfrm>
          <a:prstGeom prst="rect">
            <a:avLst/>
          </a:prstGeom>
          <a:solidFill>
            <a:srgbClr val="162436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4782312"/>
            <a:ext cx="45720" cy="56692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48188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KBAs  </a:t>
            </a:r>
            <a:pPr indent="0" marL="0">
              <a:buNone/>
            </a:pPr>
            <a:r>
              <a:rPr lang="en-US" sz="9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Process Standards  ·  </a:t>
            </a:r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Incidents</a:t>
            </a:r>
            <a:pPr indent="0" marL="0">
              <a:buNone/>
            </a:pPr>
            <a:r>
              <a:rPr lang="en-US" sz="9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Maintenance Logs  ·  </a:t>
            </a:r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Records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" y="5422392"/>
            <a:ext cx="2788920" cy="246888"/>
          </a:xfrm>
          <a:prstGeom prst="rect">
            <a:avLst/>
          </a:prstGeom>
          <a:solidFill>
            <a:srgbClr val="111D2C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542239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TRIGGERS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5660136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"Output dropped on Line B"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"Defect spike on weld quality"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"Missed supplier delivery"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72968" y="1024128"/>
            <a:ext cx="5468112" cy="246888"/>
          </a:xfrm>
          <a:prstGeom prst="rect">
            <a:avLst/>
          </a:prstGeom>
          <a:solidFill>
            <a:srgbClr val="111D2C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72968" y="1024128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0" y="1353312"/>
            <a:ext cx="749808" cy="713232"/>
          </a:xfrm>
          <a:prstGeom prst="rect">
            <a:avLst/>
          </a:prstGeom>
          <a:solidFill>
            <a:srgbClr val="162436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1353312"/>
            <a:ext cx="749808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1399032"/>
            <a:ext cx="7498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950208" y="1709928"/>
            <a:ext cx="182880" cy="0"/>
          </a:xfrm>
          <a:prstGeom prst="line">
            <a:avLst/>
          </a:prstGeom>
          <a:noFill/>
          <a:ln w="19050">
            <a:solidFill>
              <a:srgbClr val="3E5A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14216" y="1591056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A72"/>
                </a:solidFill>
              </a:rPr>
              <a:t>▶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33088" y="1353312"/>
            <a:ext cx="749808" cy="713232"/>
          </a:xfrm>
          <a:prstGeom prst="rect">
            <a:avLst/>
          </a:prstGeom>
          <a:solidFill>
            <a:srgbClr val="16243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33088" y="1353312"/>
            <a:ext cx="74980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33088" y="1399032"/>
            <a:ext cx="7498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82896" y="1709928"/>
            <a:ext cx="182880" cy="0"/>
          </a:xfrm>
          <a:prstGeom prst="line">
            <a:avLst/>
          </a:prstGeom>
          <a:noFill/>
          <a:ln w="19050">
            <a:solidFill>
              <a:srgbClr val="3E5A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1591056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A72"/>
                </a:solidFill>
              </a:rPr>
              <a:t>▶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65776" y="1353312"/>
            <a:ext cx="749808" cy="713232"/>
          </a:xfrm>
          <a:prstGeom prst="rect">
            <a:avLst/>
          </a:prstGeom>
          <a:solidFill>
            <a:srgbClr val="162436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65776" y="1353312"/>
            <a:ext cx="749808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65776" y="1399032"/>
            <a:ext cx="7498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PARALLEL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15584" y="1709928"/>
            <a:ext cx="182880" cy="0"/>
          </a:xfrm>
          <a:prstGeom prst="line">
            <a:avLst/>
          </a:prstGeom>
          <a:noFill/>
          <a:ln w="19050">
            <a:solidFill>
              <a:srgbClr val="3E5A7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9592" y="1591056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A72"/>
                </a:solidFill>
              </a:rPr>
              <a:t>▶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65776" y="2121408"/>
            <a:ext cx="74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Throughput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 · Supplier · Safety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998464" y="1353312"/>
            <a:ext cx="749808" cy="713232"/>
          </a:xfrm>
          <a:prstGeom prst="rect">
            <a:avLst/>
          </a:prstGeom>
          <a:solidFill>
            <a:srgbClr val="162436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98464" y="1353312"/>
            <a:ext cx="74980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98464" y="1399032"/>
            <a:ext cx="7498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748272" y="1709928"/>
            <a:ext cx="182880" cy="0"/>
          </a:xfrm>
          <a:prstGeom prst="line">
            <a:avLst/>
          </a:prstGeom>
          <a:noFill/>
          <a:ln w="19050">
            <a:solidFill>
              <a:srgbClr val="3E5A7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12280" y="1591056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A72"/>
                </a:solidFill>
              </a:rPr>
              <a:t>▶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98464" y="2121408"/>
            <a:ext cx="74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KBAs · Standards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· Logs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931152" y="1353312"/>
            <a:ext cx="749808" cy="713232"/>
          </a:xfrm>
          <a:prstGeom prst="rect">
            <a:avLst/>
          </a:prstGeom>
          <a:solidFill>
            <a:srgbClr val="162436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31152" y="1353312"/>
            <a:ext cx="749808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31152" y="1399032"/>
            <a:ext cx="7498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SYNTHESIZER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1709928"/>
            <a:ext cx="182880" cy="0"/>
          </a:xfrm>
          <a:prstGeom prst="line">
            <a:avLst/>
          </a:prstGeom>
          <a:noFill/>
          <a:ln w="19050">
            <a:solidFill>
              <a:srgbClr val="3E5A7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44968" y="1591056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A72"/>
                </a:solidFill>
              </a:rPr>
              <a:t>▶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931152" y="2121408"/>
            <a:ext cx="74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hypotheses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scores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863840" y="1353312"/>
            <a:ext cx="749808" cy="713232"/>
          </a:xfrm>
          <a:prstGeom prst="rect">
            <a:avLst/>
          </a:prstGeom>
          <a:solidFill>
            <a:srgbClr val="16243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63840" y="1353312"/>
            <a:ext cx="74980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63840" y="1399032"/>
            <a:ext cx="7498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863840" y="2121408"/>
            <a:ext cx="74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· WO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· Supplier Q's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172968" y="3145536"/>
            <a:ext cx="5468112" cy="246888"/>
          </a:xfrm>
          <a:prstGeom prst="rect">
            <a:avLst/>
          </a:prstGeom>
          <a:solidFill>
            <a:srgbClr val="111D2C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72968" y="3145536"/>
            <a:ext cx="5468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ROOT CAUSE HYPOTHESIS OUTPUT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172968" y="3392424"/>
            <a:ext cx="5468112" cy="1115568"/>
          </a:xfrm>
          <a:prstGeom prst="rect">
            <a:avLst/>
          </a:prstGeom>
          <a:solidFill>
            <a:srgbClr val="08121D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82696" y="3502152"/>
            <a:ext cx="1444752" cy="237744"/>
          </a:xfrm>
          <a:prstGeom prst="rect">
            <a:avLst/>
          </a:prstGeom>
          <a:solidFill>
            <a:srgbClr val="123823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82696" y="350215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HIGH CONFIDENCE  87%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837176" y="3502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MaintenanceAgent · ThroughputAgent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282696" y="3785616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#1:  </a:t>
            </a:r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bearing replacement (WO-LB-1201) at conveyor position C-14 caused belt speed reduction and throughput drop to 218 uph (−42%). Prior incident INC-2024-007 confirmed identical failure mode — roller bearing at 2,000 h PM interval exceeded.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3172968" y="4690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scale: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315968" y="4690872"/>
            <a:ext cx="1170432" cy="219456"/>
          </a:xfrm>
          <a:prstGeom prst="rect">
            <a:avLst/>
          </a:prstGeom>
          <a:solidFill>
            <a:srgbClr val="123823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15968" y="469087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75–100%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577840" y="4690872"/>
            <a:ext cx="1170432" cy="219456"/>
          </a:xfrm>
          <a:prstGeom prst="rect">
            <a:avLst/>
          </a:prstGeom>
          <a:solidFill>
            <a:srgbClr val="302910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77840" y="469087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 45–74%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839712" y="4690872"/>
            <a:ext cx="1170432" cy="219456"/>
          </a:xfrm>
          <a:prstGeom prst="rect">
            <a:avLst/>
          </a:prstGeom>
          <a:solidFill>
            <a:srgbClr val="2A1210"/>
          </a:solidFill>
          <a:ln w="9525">
            <a:solidFill>
              <a:srgbClr val="E74C3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39712" y="469087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 10–44%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823960" y="1024128"/>
            <a:ext cx="3090672" cy="246888"/>
          </a:xfrm>
          <a:prstGeom prst="rect">
            <a:avLst/>
          </a:prstGeom>
          <a:solidFill>
            <a:srgbClr val="111D2C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823960" y="1024128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ACTION DOCUMENTS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8823960" y="1316736"/>
            <a:ext cx="3090672" cy="1106424"/>
          </a:xfrm>
          <a:prstGeom prst="rect">
            <a:avLst/>
          </a:prstGeom>
          <a:solidFill>
            <a:srgbClr val="162436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823960" y="1316736"/>
            <a:ext cx="45720" cy="110642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933688" y="138988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Handoff Note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8961120" y="1655064"/>
            <a:ext cx="2889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summary + current status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items with alert thresholds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Do-not-restart conditions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823960" y="2478024"/>
            <a:ext cx="3090672" cy="1106424"/>
          </a:xfrm>
          <a:prstGeom prst="rect">
            <a:avLst/>
          </a:prstGeom>
          <a:solidFill>
            <a:srgbClr val="162436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823960" y="2478024"/>
            <a:ext cx="45720" cy="11064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33688" y="25511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Work Order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8961120" y="2816352"/>
            <a:ext cx="2889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Per-equipment tasks with WO number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list with part numbers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LOTO &amp; safety precautions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8823960" y="3639312"/>
            <a:ext cx="3090672" cy="1106424"/>
          </a:xfrm>
          <a:prstGeom prst="rect">
            <a:avLst/>
          </a:prstGeom>
          <a:solidFill>
            <a:srgbClr val="162436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823960" y="3639312"/>
            <a:ext cx="45720" cy="110642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933688" y="371246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Action Plan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8961120" y="3977640"/>
            <a:ext cx="2889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/ SHORT / LONG TERM tiers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due date + success KPI per action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review date + KPIs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8823960" y="4800600"/>
            <a:ext cx="3090672" cy="1106424"/>
          </a:xfrm>
          <a:prstGeom prst="rect">
            <a:avLst/>
          </a:prstGeom>
          <a:solidFill>
            <a:srgbClr val="162436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823960" y="4800600"/>
            <a:ext cx="45720" cy="110642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33688" y="487375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Questionnaire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8961120" y="5138928"/>
            <a:ext cx="2889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timeline, prevention asks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&amp; deliverables requested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structured questions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01168" y="5943600"/>
            <a:ext cx="11759184" cy="0"/>
          </a:xfrm>
          <a:prstGeom prst="line">
            <a:avLst/>
          </a:prstGeom>
          <a:noFill/>
          <a:ln w="9525">
            <a:solidFill>
              <a:srgbClr val="3E5A7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40080" y="5998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000" dirty="0"/>
          </a:p>
        </p:txBody>
      </p:sp>
      <p:sp>
        <p:nvSpPr>
          <p:cNvPr id="104" name="Text 102"/>
          <p:cNvSpPr/>
          <p:nvPr/>
        </p:nvSpPr>
        <p:spPr>
          <a:xfrm>
            <a:off x="640080" y="62270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Agents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779776" y="5998464"/>
            <a:ext cx="0" cy="347472"/>
          </a:xfrm>
          <a:prstGeom prst="line">
            <a:avLst/>
          </a:prstGeom>
          <a:noFill/>
          <a:ln w="9525">
            <a:solidFill>
              <a:srgbClr val="3E5A7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834640" y="5998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7" name="Text 105"/>
          <p:cNvSpPr/>
          <p:nvPr/>
        </p:nvSpPr>
        <p:spPr>
          <a:xfrm>
            <a:off x="2834640" y="62270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Stages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974336" y="5998464"/>
            <a:ext cx="0" cy="347472"/>
          </a:xfrm>
          <a:prstGeom prst="line">
            <a:avLst/>
          </a:prstGeom>
          <a:noFill/>
          <a:ln w="9525">
            <a:solidFill>
              <a:srgbClr val="3E5A7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029200" y="5998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000" dirty="0"/>
          </a:p>
        </p:txBody>
      </p:sp>
      <p:sp>
        <p:nvSpPr>
          <p:cNvPr id="110" name="Text 108"/>
          <p:cNvSpPr/>
          <p:nvPr/>
        </p:nvSpPr>
        <p:spPr>
          <a:xfrm>
            <a:off x="5029200" y="62270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Documents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7168896" y="5998464"/>
            <a:ext cx="0" cy="347472"/>
          </a:xfrm>
          <a:prstGeom prst="line">
            <a:avLst/>
          </a:prstGeom>
          <a:noFill/>
          <a:ln w="9525">
            <a:solidFill>
              <a:srgbClr val="3E5A7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23760" y="5998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13" name="Text 111"/>
          <p:cNvSpPr/>
          <p:nvPr/>
        </p:nvSpPr>
        <p:spPr>
          <a:xfrm>
            <a:off x="7223760" y="62270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Docs Generated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9363456" y="5998464"/>
            <a:ext cx="0" cy="347472"/>
          </a:xfrm>
          <a:prstGeom prst="line">
            <a:avLst/>
          </a:prstGeom>
          <a:noFill/>
          <a:ln w="9525">
            <a:solidFill>
              <a:srgbClr val="3E5A7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418320" y="5998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16" name="Text 114"/>
          <p:cNvSpPr/>
          <p:nvPr/>
        </p:nvSpPr>
        <p:spPr>
          <a:xfrm>
            <a:off x="9418320" y="62270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07101A"/>
          </a:solidFill>
          <a:ln w="12700">
            <a:solidFill>
              <a:srgbClr val="07101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28600" y="65653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A9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1261872" y="6556248"/>
            <a:ext cx="1298448" cy="201168"/>
          </a:xfrm>
          <a:prstGeom prst="rect">
            <a:avLst/>
          </a:prstGeom>
          <a:solidFill>
            <a:srgbClr val="0F2030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261872" y="65562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2670048" y="6556248"/>
            <a:ext cx="914400" cy="201168"/>
          </a:xfrm>
          <a:prstGeom prst="rect">
            <a:avLst/>
          </a:prstGeom>
          <a:solidFill>
            <a:srgbClr val="0F2030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670048" y="6556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3694176" y="6556248"/>
            <a:ext cx="932688" cy="201168"/>
          </a:xfrm>
          <a:prstGeom prst="rect">
            <a:avLst/>
          </a:prstGeom>
          <a:solidFill>
            <a:srgbClr val="0F2030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694176" y="655624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4736592" y="6556248"/>
            <a:ext cx="1389888" cy="201168"/>
          </a:xfrm>
          <a:prstGeom prst="rect">
            <a:avLst/>
          </a:prstGeom>
          <a:solidFill>
            <a:srgbClr val="0F2030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736592" y="6556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6236208" y="6556248"/>
            <a:ext cx="1627632" cy="201168"/>
          </a:xfrm>
          <a:prstGeom prst="rect">
            <a:avLst/>
          </a:prstGeom>
          <a:solidFill>
            <a:srgbClr val="0F2030"/>
          </a:solidFill>
          <a:ln w="9525">
            <a:solidFill>
              <a:srgbClr val="1C345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236208" y="655624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9144000" y="656539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E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Ops AI  ·  Powered by Claude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2026-04-16T23:31:41Z</dcterms:created>
  <dcterms:modified xsi:type="dcterms:W3CDTF">2026-04-16T23:31:41Z</dcterms:modified>
</cp:coreProperties>
</file>